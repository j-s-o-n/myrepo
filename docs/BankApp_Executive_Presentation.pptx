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BankApp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0B981"/>
                </a:solidFill>
              </a:defRPr>
            </a:pPr>
            <a:r>
              <a:t>Next-Generation Banking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AF"/>
                </a:solidFill>
              </a:defRPr>
            </a:pPr>
            <a:r>
              <a:t>Cloud-Native • Secure • Scalable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Executive Presentation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284C7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560320" cy="1097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Multi-Tenant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39" y="1188720"/>
            <a:ext cx="2560320" cy="1097280"/>
          </a:xfrm>
          <a:prstGeom prst="round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39" y="1371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39" y="1737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Enterprise-Grade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188720"/>
            <a:ext cx="2560320" cy="109728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9" y="1371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1737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AWS 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19" y="1188720"/>
            <a:ext cx="2560320" cy="1097280"/>
          </a:xfrm>
          <a:prstGeom prst="round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19" y="13716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19" y="1737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Automated 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✓ Full-stack banking application with modern React frontend and Node.js backend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✓ Per-user data isolation with enterprise-grade security (JWT + bcrypt)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✓ Cloud-native AWS infrastructure: VPC, ECR, ECS, RDS, CloudFront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✓ Automated CI/CD pipeline with Docker containerization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✓ Comprehensive features: Accounts, Goals, Investments, Crypto, Health tracking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✓ Production-ready: 68.9 MB Docker image successfully deployed to ECR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✓ Scalable architecture: Auto-scaling with ECS Fargate (planned)</a:t>
            </a:r>
          </a:p>
          <a:p>
            <a:pPr>
              <a:spcAft>
                <a:spcPts val="1200"/>
              </a:spcAft>
              <a:defRPr sz="1800">
                <a:solidFill>
                  <a:srgbClr val="1F2937"/>
                </a:solidFill>
              </a:defRPr>
            </a:pPr>
            <a:r>
              <a:t>✓ Cost-effective: ~$830/month for 3 environments (dev, staging, prod)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284C7"/>
                </a:solidFill>
              </a:defRPr>
            </a:pPr>
            <a:r>
              <a:t>📊 Market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1371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2.5B+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Digital Banking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Global Market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39" y="1371600"/>
            <a:ext cx="2560320" cy="13716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39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79" y="210312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South Africa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2468880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Banked Population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371600"/>
            <a:ext cx="2560320" cy="137160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73%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19" y="210312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Mobile Banking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19" y="2468880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Adoption Rate 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1371600"/>
            <a:ext cx="2560320" cy="137160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210312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Market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2468880"/>
            <a:ext cx="2377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CAGR 2024-2030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Target Market Segments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57600"/>
            <a:ext cx="11277295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03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💼 SME Banking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74903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Small &amp; medium enterprises requiring comprehensive financial management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297680"/>
            <a:ext cx="11277295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343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👥 Retail Banking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3891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Individual customers seeking modern, mobile-first banking experience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37760"/>
            <a:ext cx="11277295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983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🏢 Corporate Banking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5029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Enterprises needing multi-account management and treasury services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577840"/>
            <a:ext cx="11277295" cy="548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62355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🌍 International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66927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Cross-border payments and multi-currency support for global businesses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284C7"/>
                </a:solidFill>
              </a:defRPr>
            </a:pPr>
            <a:r>
              <a:t>💰 Revenue Model &amp;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Revenue Streams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02920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737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Transaction Fees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R2-R5 per transaction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5029200" cy="6400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68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Monthly Subscriptions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432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R99-R499 per user/month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5029200" cy="64008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2004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Premium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747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Goals, Crypto tracking,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5029200" cy="64008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9319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Partner Commissions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062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Buy Hub, Investment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097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2937"/>
                </a:solidFill>
              </a:defRPr>
            </a:pPr>
            <a:r>
              <a:t>3-Year Financial Projections (ZAR)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645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369A1"/>
                </a:solidFill>
              </a:defRPr>
            </a:pPr>
            <a:r>
              <a:t>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6459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369A1"/>
                </a:solidFill>
              </a:defRPr>
            </a:pPr>
            <a:r>
              <a:t>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645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369A1"/>
                </a:solidFill>
              </a:defRPr>
            </a:pPr>
            <a:r>
              <a:t>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16459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369A1"/>
                </a:solidFill>
              </a:defRPr>
            </a:pPr>
            <a:r>
              <a:t>Costs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1645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369A1"/>
                </a:solidFill>
              </a:defRPr>
            </a:pPr>
            <a:r>
              <a:t>Profit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2057400"/>
            <a:ext cx="6309360" cy="457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21031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Year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1031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t>10K 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1031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t>R 4.8M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10312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t>R 2.2M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21031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R 2.6M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60" y="2606040"/>
            <a:ext cx="6309360" cy="457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2651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Year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26517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t>50K users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651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t>R 28.5M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26517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t>R 8.5M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2651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R 20M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52160" y="3154680"/>
            <a:ext cx="6309360" cy="4572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0" y="32004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Year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2004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t>150K users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32004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t>R 105M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F2937"/>
                </a:solidFill>
              </a:defRPr>
            </a:pPr>
            <a:r>
              <a:t>R 18.2M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32004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R 86.8M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475488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Key Metrics: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• Break-even: Month 18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• Customer Acquisition Cost: R250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• Lifetime Value: R4,800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• LTV/CAC Ratio: 19.2x</a:t>
            </a:r>
          </a:p>
          <a:p>
            <a:pPr>
              <a:spcAft>
                <a:spcPts val="600"/>
              </a:spcAft>
              <a:defRPr sz="1500">
                <a:solidFill>
                  <a:srgbClr val="1F2937"/>
                </a:solidFill>
              </a:defRPr>
            </a:pPr>
            <a:r>
              <a:t>• Gross Margin: 82%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284C7"/>
                </a:solidFill>
              </a:defRPr>
            </a:pPr>
            <a:r>
              <a:t>💎 Funding Request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11887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508760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Seeking: R 15 Million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5340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Series A Funding • 18-Month Runway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Use of Funds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11277295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3383280"/>
            <a:ext cx="4172599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4564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Product Development - R 5.5M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4930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Engineering team, feature development, UX/UI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345643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F2937"/>
                </a:solidFill>
              </a:defRPr>
            </a:pPr>
            <a:r>
              <a:t>37%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50208"/>
            <a:ext cx="11277295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950208"/>
            <a:ext cx="1917140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Cloud Infrastructure - R 2.5M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0599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AWS costs, scaling, security,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4023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F2937"/>
                </a:solidFill>
              </a:defRPr>
            </a:pPr>
            <a:r>
              <a:t>17%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17136"/>
            <a:ext cx="11277295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517136"/>
            <a:ext cx="3044869" cy="50292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9028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Marketing &amp; Sales - R 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6268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Customer acquisition, brand building, partnerships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459028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F2937"/>
                </a:solidFill>
              </a:defRPr>
            </a:pPr>
            <a:r>
              <a:t>27%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84064"/>
            <a:ext cx="11277295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5084064"/>
            <a:ext cx="1127729" cy="50292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57216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Operations &amp; Legal - R 1.5M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1937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Compliance, licenses, operations,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515721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F2937"/>
                </a:solidFill>
              </a:defRPr>
            </a:pPr>
            <a:r>
              <a:t>10%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650992"/>
            <a:ext cx="11277295" cy="5029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5650992"/>
            <a:ext cx="1127729" cy="502920"/>
          </a:xfrm>
          <a:prstGeom prst="round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724144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Reserve Fund - R 1.5M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</a:defRPr>
            </a:pPr>
            <a:r>
              <a:t>Contingency, opportunities, buffer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572414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F2937"/>
                </a:solidFill>
              </a:defRPr>
            </a:pPr>
            <a:r>
              <a:t>10%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284C7"/>
                </a:solidFill>
              </a:defRPr>
            </a:pPr>
            <a:r>
              <a:t>📈 ROI Projections &amp; Exit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12801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5.8x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Expected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In 3 Years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280160"/>
            <a:ext cx="3474720" cy="1280160"/>
          </a:xfrm>
          <a:prstGeom prst="round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630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 350M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Valuation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Year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280160"/>
            <a:ext cx="3474720" cy="128016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4630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142%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IRR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Annual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260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Exit Strategy Options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11277295" cy="77724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3075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🏦 Strategic Acquisition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690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Major bank acquisition (FNB, Standard Bank, Capitec)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794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2937"/>
                </a:solidFill>
              </a:defRPr>
            </a:pPr>
            <a:r>
              <a:t>⏱ Year 3-4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7947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10B981"/>
                </a:solidFill>
              </a:defRPr>
            </a:pPr>
            <a:r>
              <a:t>Target: R 300-400M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26280"/>
            <a:ext cx="11277295" cy="77724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9943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284C7"/>
                </a:solidFill>
              </a:defRPr>
            </a:pPr>
            <a:r>
              <a:t>🌍 International Expansion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Expand to other African markets, raise Series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2937"/>
                </a:solidFill>
              </a:defRPr>
            </a:pPr>
            <a:r>
              <a:t>⏱ Year 2-3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66344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10B981"/>
                </a:solidFill>
              </a:defRPr>
            </a:pPr>
            <a:r>
              <a:t>Target: R 150-200M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394960"/>
            <a:ext cx="11277295" cy="77724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46811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B923C"/>
                </a:solidFill>
              </a:defRPr>
            </a:pPr>
            <a:r>
              <a:t>📊 IPO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06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Public listing on JSE or international exchange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5321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2937"/>
                </a:solidFill>
              </a:defRPr>
            </a:pPr>
            <a:r>
              <a:t>⏱ Year 4-5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553212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10B981"/>
                </a:solidFill>
              </a:defRPr>
            </a:pPr>
            <a:r>
              <a:t>Target: R 500M+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284C7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474720" cy="45720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5544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⚛️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3774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2926079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React 18.3.1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Vite 6.0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Vitest Testing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Modern Hooks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71600"/>
            <a:ext cx="3474720" cy="45720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5544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284C7"/>
                </a:solidFill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017520"/>
            <a:ext cx="2926079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Node.js 18 LTS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Express 5.2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Sequelize ORM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JWT 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371600"/>
            <a:ext cx="3474720" cy="45720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155448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/>
            </a:pPr>
            <a:r>
              <a:t>☁️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237744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B923C"/>
                </a:solidFill>
              </a:defRPr>
            </a:pPr>
            <a:r>
              <a:t>Cloud &amp; DevOps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017520"/>
            <a:ext cx="2926079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AWS VPC/ECR/ECS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Docker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GitHub Actions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Terraform IaC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284C7"/>
                </a:solidFill>
              </a:defRPr>
            </a:pPr>
            <a:r>
              <a:t>🔐 Multi-Layer Security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1645920"/>
          </a:xfrm>
          <a:prstGeom prst="round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JWT Tokens (24h)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bcrypt Hashing (10 rounds)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474720" cy="1645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554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Authorization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Per-User Data Isolation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Role-Based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474720" cy="164592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544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Network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VPC Isolation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Private Subnets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Security Groups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91840"/>
            <a:ext cx="3474720" cy="1645920"/>
          </a:xfrm>
          <a:prstGeom prst="round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Encryption at Rest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Encryption in Transit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Secrets Manager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291840"/>
            <a:ext cx="3474720" cy="1645920"/>
          </a:xfrm>
          <a:prstGeom prst="round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4747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931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Input Validation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SQL Injection Prevention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XSS Protection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291840"/>
            <a:ext cx="3474720" cy="1645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4747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9319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Non-root Containers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Image Scanning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Minimal Base Images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60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✓ Enterprise-Grade Security  |  ✓ Compliance-Ready  |  ✓ Zero Trust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284C7"/>
                </a:solidFill>
              </a:defRPr>
            </a:pPr>
            <a:r>
              <a:t>☁️ AWS Cloud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73152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Route 53 DNS + CloudFront CDN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377440"/>
            <a:ext cx="7619695" cy="64008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468880"/>
            <a:ext cx="7619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Application Load Balancer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91840"/>
            <a:ext cx="10362895" cy="274320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369A1"/>
                </a:solidFill>
              </a:defRPr>
            </a:pPr>
            <a:r>
              <a:t>VPC (10.0.0.0/16)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931920"/>
            <a:ext cx="411480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4114800"/>
            <a:ext cx="374903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ECS Fargate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Docker Containers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Auto-scaling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68.9 MB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931920"/>
            <a:ext cx="4114800" cy="18288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4114800"/>
            <a:ext cx="3749039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RDS PostgreSQL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Multi-AZ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Automated Backups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Encrypted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B923C"/>
                </a:solidFill>
              </a:defRPr>
            </a:pPr>
            <a:r>
              <a:t>💰 Total Infrastructure Cost: ~$830/month (Dev + Staging + Production)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284C7"/>
                </a:solidFill>
              </a:defRPr>
            </a:pPr>
            <a:r>
              <a:t>💼 Application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1463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50876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Real-time balances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Transactions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1463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63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50876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Multi-Account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Checking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Savings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Credit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474720" cy="146304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630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50876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Financial targets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Progress tracking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Contributions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08960"/>
            <a:ext cx="3474720" cy="1463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24612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Investments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490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JSE stocks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Portfolio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Performance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108960"/>
            <a:ext cx="3474720" cy="1463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2004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24612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Crypto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7490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Live prices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BTC, ETH, SOL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24h changes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108960"/>
            <a:ext cx="3474720" cy="146304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2004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24612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Exchange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7490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Live ZAR/USD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Auto-refresh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Dual display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846320"/>
            <a:ext cx="3474720" cy="14630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937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⚙️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98348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Settings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86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Transaction limits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Card controls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Preferences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846320"/>
            <a:ext cx="3474720" cy="1463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937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❤️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98348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Health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486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Steps tracking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Calories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Wellness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846320"/>
            <a:ext cx="3474720" cy="146304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9377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983480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Buy Hub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5486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Shopping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Categories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Offers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284C7"/>
                </a:solidFill>
              </a:defRPr>
            </a:pPr>
            <a:r>
              <a:t>🚀 Deployment Status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508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✅ VPC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5544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FFFFFF"/>
                </a:solidFill>
              </a:defRPr>
            </a:pPr>
            <a:r>
              <a:t>2 AZs, NAT Gateways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362895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✅ Docker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6517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FFFFFF"/>
                </a:solidFill>
              </a:defRPr>
            </a:pPr>
            <a:r>
              <a:t>68.9 MB in ECR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66160"/>
            <a:ext cx="10362895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✅ CI/CD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749039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FFFFFF"/>
                </a:solidFill>
              </a:defRPr>
            </a:pPr>
            <a:r>
              <a:t>GitHub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362895" cy="822960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8006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⏳ ECS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8463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>
                <a:solidFill>
                  <a:srgbClr val="FFFFFF"/>
                </a:solidFill>
              </a:defRPr>
            </a:pPr>
            <a:r>
              <a:t>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F2937"/>
                </a:solidFill>
              </a:defRPr>
            </a:pPr>
            <a:r>
              <a:t>Project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126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284C7"/>
                </a:solidFill>
              </a:defRPr>
            </a:pPr>
            <a:r>
              <a:t>5,300 Lines of Code  •  10+ Features  •  32 Slides Documentation  •  Production Ready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284C7"/>
                </a:solidFill>
              </a:defRPr>
            </a:pPr>
            <a:r>
              <a:t>📋 Strategic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4114800"/>
          </a:xfrm>
          <a:prstGeom prst="roundRect">
            <a:avLst/>
          </a:prstGeom>
          <a:solidFill>
            <a:srgbClr val="F8FAFC"/>
          </a:solidFill>
          <a:ln w="508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Infrastructure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926079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</a:defRPr>
            </a:pPr>
            <a:r>
              <a:t>✅ AWS VPC setup</a:t>
            </a:r>
          </a:p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</a:defRPr>
            </a:pPr>
            <a:r>
              <a:t>✅ Docker containerization</a:t>
            </a:r>
          </a:p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</a:defRPr>
            </a:pPr>
            <a:r>
              <a:t>✅ CI/CD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4114800"/>
          </a:xfrm>
          <a:prstGeom prst="roundRect">
            <a:avLst/>
          </a:prstGeom>
          <a:solidFill>
            <a:srgbClr val="F8FAFC"/>
          </a:solidFill>
          <a:ln w="508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B923C"/>
                </a:solidFill>
              </a:defRPr>
            </a:pPr>
            <a: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Production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34640"/>
            <a:ext cx="2926079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</a:defRPr>
            </a:pPr>
            <a:r>
              <a:t>⏳ ECS Fargate setup</a:t>
            </a:r>
          </a:p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</a:defRPr>
            </a:pPr>
            <a:r>
              <a:t>⏳ RDS database</a:t>
            </a:r>
          </a:p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</a:defRPr>
            </a:pPr>
            <a:r>
              <a:t>⏳ Load balancer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474720" cy="4114800"/>
          </a:xfrm>
          <a:prstGeom prst="roundRect">
            <a:avLst/>
          </a:prstGeom>
          <a:solidFill>
            <a:srgbClr val="F8FAFC"/>
          </a:solidFill>
          <a:ln w="508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284C7"/>
                </a:solidFill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03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Enhancement &amp;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834640"/>
            <a:ext cx="2926079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</a:defRPr>
            </a:pPr>
            <a:r>
              <a:t>📅 Performance optimization</a:t>
            </a:r>
          </a:p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</a:defRPr>
            </a:pPr>
            <a:r>
              <a:t>📅 Monitoring dashboards</a:t>
            </a:r>
          </a:p>
          <a:p>
            <a:pPr>
              <a:spcAft>
                <a:spcPts val="1200"/>
              </a:spcAft>
              <a:defRPr sz="1500">
                <a:solidFill>
                  <a:srgbClr val="1F2937"/>
                </a:solidFill>
              </a:defRPr>
            </a:pPr>
            <a:r>
              <a:t>📅 Auto-scaling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284C7"/>
                </a:solidFill>
              </a:defRPr>
            </a:pPr>
            <a:r>
              <a:t>Timeline: Phase 1 ✅ Complete  |  Phase 2 🔄 In Progress  |  Phase 3 📅 Q2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Ready for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0B981"/>
                </a:solidFill>
              </a:defRPr>
            </a:pPr>
            <a:r>
              <a:t>Enterprise-Grade Banking Platform</a:t>
            </a:r>
          </a:p>
          <a:p>
            <a:pPr algn="ctr">
              <a:defRPr sz="2800">
                <a:solidFill>
                  <a:srgbClr val="10B981"/>
                </a:solidFill>
              </a:defRPr>
            </a:pPr>
            <a:r>
              <a:t>Built on AWS • Secured by Design • Ready to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CA3AF"/>
                </a:solidFill>
              </a:defRPr>
            </a:pPr>
            <a:r>
              <a:t>GitHub: J-S-O-N/myrepo  •  AWS Region: us-east-1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